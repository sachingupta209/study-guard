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2" r:id="rId5"/>
    <p:sldId id="264" r:id="rId6"/>
    <p:sldId id="259" r:id="rId7"/>
    <p:sldId id="266" r:id="rId8"/>
    <p:sldId id="268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468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2FF74-AC16-4760-BE60-99ADCB50D494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E686D-5A2F-42CB-9A85-846694105D2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975E98-655A-4B9B-B4BE-657E806CB050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481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D4AC41-AD51-4D0D-9F20-694CFCD79A16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542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E97C48-C463-4704-9713-92299441EE6C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A423ED-3786-4B21-A0D7-8DEA6AFB1C4E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Waiting</a:t>
            </a:r>
          </a:p>
          <a:p>
            <a:pPr eaLnBrk="1" hangingPunct="1"/>
            <a:r>
              <a:rPr lang="en-US" smtClean="0"/>
              <a:t>time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625E5-E472-4AC4-86DB-ED2790641CE1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889E9-C3E3-48C3-A552-680EDE7524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image" Target="../media/image26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12" Type="http://schemas.openxmlformats.org/officeDocument/2006/relationships/image" Target="../media/image2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emf"/><Relationship Id="rId11" Type="http://schemas.openxmlformats.org/officeDocument/2006/relationships/image" Target="../media/image24.emf"/><Relationship Id="rId5" Type="http://schemas.openxmlformats.org/officeDocument/2006/relationships/image" Target="../media/image18.emf"/><Relationship Id="rId10" Type="http://schemas.openxmlformats.org/officeDocument/2006/relationships/image" Target="../media/image23.emf"/><Relationship Id="rId4" Type="http://schemas.openxmlformats.org/officeDocument/2006/relationships/image" Target="../media/image17.emf"/><Relationship Id="rId9" Type="http://schemas.openxmlformats.org/officeDocument/2006/relationships/image" Target="../media/image22.emf"/><Relationship Id="rId14" Type="http://schemas.openxmlformats.org/officeDocument/2006/relationships/image" Target="../media/image2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Connection Oriented and Connectionless Network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 smtClean="0"/>
              <a:t>connection-oriented Network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connection-oriented service is a network service that was designed and developed after the telephone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It Creates End –End Connection Between Sender and Receiver </a:t>
            </a:r>
          </a:p>
          <a:p>
            <a:r>
              <a:rPr lang="en-US" dirty="0" smtClean="0"/>
              <a:t>In </a:t>
            </a:r>
            <a:r>
              <a:rPr lang="en-US" dirty="0"/>
              <a:t>connection-oriented service, packets are transmitted to the receiver in the same order the sender has sent </a:t>
            </a:r>
            <a:r>
              <a:rPr lang="en-US" dirty="0" smtClean="0"/>
              <a:t>them</a:t>
            </a:r>
          </a:p>
          <a:p>
            <a:r>
              <a:rPr lang="en-US" dirty="0"/>
              <a:t>It uses a handshake method that creates a connection between the </a:t>
            </a:r>
            <a:r>
              <a:rPr lang="en-US" dirty="0" smtClean="0"/>
              <a:t>sender  and Receiver before transmitting </a:t>
            </a:r>
            <a:r>
              <a:rPr lang="en-US" dirty="0"/>
              <a:t>the data over the network. </a:t>
            </a:r>
            <a:endParaRPr lang="en-US" dirty="0" smtClean="0"/>
          </a:p>
          <a:p>
            <a:r>
              <a:rPr lang="en-US" dirty="0" smtClean="0"/>
              <a:t>Hence </a:t>
            </a:r>
            <a:r>
              <a:rPr lang="en-US" dirty="0"/>
              <a:t>it is also known as a reliable network service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receiver can </a:t>
            </a:r>
            <a:r>
              <a:rPr lang="en-US" dirty="0" smtClean="0"/>
              <a:t>respond to the sender in the form of Acknowledge . </a:t>
            </a:r>
          </a:p>
          <a:p>
            <a:r>
              <a:rPr lang="en-US" dirty="0" smtClean="0"/>
              <a:t>After </a:t>
            </a:r>
            <a:r>
              <a:rPr lang="en-US" dirty="0"/>
              <a:t>successfully exchanging or transmitting data, a sender can terminate the connection by sending a signal to the receiver. 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291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150" y="762000"/>
            <a:ext cx="82994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7848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i="1" dirty="0" smtClean="0"/>
              <a:t>connection-oriented  Network </a:t>
            </a:r>
            <a:endParaRPr lang="en-US" altLang="en-US" i="1" dirty="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pic>
        <p:nvPicPr>
          <p:cNvPr id="609293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400" y="2286000"/>
            <a:ext cx="1600200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9295" name="Picture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71800" y="3578225"/>
            <a:ext cx="447675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9296" name="Picture 1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62388" y="4724400"/>
            <a:ext cx="1471612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248400" y="4038600"/>
            <a:ext cx="1371600" cy="1143000"/>
            <a:chOff x="3936" y="2544"/>
            <a:chExt cx="864" cy="720"/>
          </a:xfrm>
        </p:grpSpPr>
        <p:pic>
          <p:nvPicPr>
            <p:cNvPr id="21519" name="Picture 17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3984" y="3077"/>
              <a:ext cx="697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520" name="Picture 18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936" y="2544"/>
              <a:ext cx="864" cy="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09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0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0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533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8988" y="1517650"/>
            <a:ext cx="7440612" cy="404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i="1"/>
              <a:t>Delay in a connection-oriented network</a:t>
            </a: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765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765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765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pic>
        <p:nvPicPr>
          <p:cNvPr id="619536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2286000"/>
            <a:ext cx="5667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538" name="Picture 1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00200" y="2667000"/>
            <a:ext cx="565785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541" name="Picture 2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0" y="3124200"/>
            <a:ext cx="5657850" cy="127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543" name="Picture 2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109663" y="2286000"/>
            <a:ext cx="3746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544" name="Picture 2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143000" y="4419600"/>
            <a:ext cx="37465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545" name="Picture 2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62000" y="2286000"/>
            <a:ext cx="347663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546" name="Picture 26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600200" y="4419600"/>
            <a:ext cx="5640388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548" name="Picture 28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524000" y="4800600"/>
            <a:ext cx="5667375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1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61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1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000"/>
                                        <p:tgtEl>
                                          <p:spTgt spid="61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61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Connectionless Service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/>
              <a:t>A </a:t>
            </a:r>
            <a:r>
              <a:rPr lang="en-US" dirty="0"/>
              <a:t>connection is similar to a </a:t>
            </a:r>
            <a:r>
              <a:rPr lang="en-US" b="1" dirty="0"/>
              <a:t>postal system</a:t>
            </a:r>
            <a:r>
              <a:rPr lang="en-US" dirty="0"/>
              <a:t>, in which each letter takes along different route paths from the source to the destination address. </a:t>
            </a:r>
            <a:endParaRPr lang="en-US" dirty="0" smtClean="0"/>
          </a:p>
          <a:p>
            <a:pPr algn="just">
              <a:lnSpc>
                <a:spcPct val="170000"/>
              </a:lnSpc>
            </a:pPr>
            <a:r>
              <a:rPr lang="en-US" dirty="0" smtClean="0"/>
              <a:t>Connectionless </a:t>
            </a:r>
            <a:r>
              <a:rPr lang="en-US" dirty="0"/>
              <a:t>service is used in the network system to transfer data from one end to another end without creating any connection. </a:t>
            </a:r>
            <a:endParaRPr lang="en-US" dirty="0" smtClean="0"/>
          </a:p>
          <a:p>
            <a:pPr algn="just">
              <a:lnSpc>
                <a:spcPct val="170000"/>
              </a:lnSpc>
            </a:pPr>
            <a:r>
              <a:rPr lang="en-US" dirty="0" smtClean="0"/>
              <a:t>So </a:t>
            </a:r>
            <a:r>
              <a:rPr lang="en-US" dirty="0"/>
              <a:t>it does not require establishing a connection before sending the data from the sender to the receiver</a:t>
            </a:r>
            <a:r>
              <a:rPr lang="en-US" dirty="0" smtClean="0"/>
              <a:t>.</a:t>
            </a:r>
          </a:p>
          <a:p>
            <a:pPr algn="just">
              <a:lnSpc>
                <a:spcPct val="170000"/>
              </a:lnSpc>
            </a:pPr>
            <a:r>
              <a:rPr lang="en-US" dirty="0" smtClean="0"/>
              <a:t> </a:t>
            </a:r>
            <a:r>
              <a:rPr lang="en-US" dirty="0"/>
              <a:t>It is not a reliable network service because it does not guarantee the transfer of data packets to the receiver, and data packets can be received in any order to the receiver. </a:t>
            </a:r>
            <a:endParaRPr lang="en-US" dirty="0" smtClean="0"/>
          </a:p>
          <a:p>
            <a:pPr algn="just">
              <a:lnSpc>
                <a:spcPct val="170000"/>
              </a:lnSpc>
            </a:pPr>
            <a:r>
              <a:rPr lang="en-US" dirty="0" smtClean="0"/>
              <a:t>Therefore </a:t>
            </a:r>
            <a:r>
              <a:rPr lang="en-US" dirty="0"/>
              <a:t>we can say that the data packet does not follow a </a:t>
            </a:r>
            <a:r>
              <a:rPr lang="en-US" b="1" dirty="0"/>
              <a:t>defined</a:t>
            </a:r>
            <a:r>
              <a:rPr lang="en-US" dirty="0"/>
              <a:t> path. </a:t>
            </a:r>
            <a:endParaRPr lang="en-US" dirty="0" smtClean="0"/>
          </a:p>
          <a:p>
            <a:pPr algn="just">
              <a:lnSpc>
                <a:spcPct val="170000"/>
              </a:lnSpc>
            </a:pPr>
            <a:r>
              <a:rPr lang="en-US" dirty="0" smtClean="0"/>
              <a:t>In </a:t>
            </a:r>
            <a:r>
              <a:rPr lang="en-US" dirty="0"/>
              <a:t>connectionless service, the transmitted data packet is not received by the receiver due to network congestion, and the data may be lost.</a:t>
            </a:r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147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888" y="1949450"/>
            <a:ext cx="8291512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i="1"/>
              <a:t>A connectionless packet-switched network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17418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pic>
        <p:nvPicPr>
          <p:cNvPr id="603148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3295650"/>
            <a:ext cx="1106488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0" name="Picture 1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19200" y="2438400"/>
            <a:ext cx="16002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1" name="Picture 1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763963" y="3505200"/>
            <a:ext cx="50323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2" name="Picture 1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325938" y="3200400"/>
            <a:ext cx="474662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5" name="Picture 1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895600" y="3733800"/>
            <a:ext cx="411163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6" name="Picture 2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38800" y="3863975"/>
            <a:ext cx="3381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7" name="Picture 2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3581400" y="4267200"/>
            <a:ext cx="420688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8" name="Picture 2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886325" y="4127500"/>
            <a:ext cx="676275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59" name="Picture 2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4249738" y="4765675"/>
            <a:ext cx="47466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60" name="Picture 2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324600" y="4724400"/>
            <a:ext cx="1096963" cy="21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3161" name="Picture 2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6172200" y="3808413"/>
            <a:ext cx="1343025" cy="83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60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60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2000"/>
                                        <p:tgtEl>
                                          <p:spTgt spid="603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603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244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3100" y="1803400"/>
            <a:ext cx="8089900" cy="345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i="1"/>
              <a:t>Delay in a connectionless network</a:t>
            </a: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sp>
        <p:nvSpPr>
          <p:cNvPr id="20490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itchFamily="34" charset="0"/>
            </a:endParaRPr>
          </a:p>
        </p:txBody>
      </p:sp>
      <p:pic>
        <p:nvPicPr>
          <p:cNvPr id="607246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2667000"/>
            <a:ext cx="21336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724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590800"/>
            <a:ext cx="1196975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7249" name="Picture 1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633663" y="3124200"/>
            <a:ext cx="795337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7250" name="Picture 1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352800" y="3479800"/>
            <a:ext cx="214788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7252" name="Picture 2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648200" y="3962400"/>
            <a:ext cx="795338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7253" name="Picture 2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10200" y="4343400"/>
            <a:ext cx="216693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7254" name="Picture 2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620000" y="2514600"/>
            <a:ext cx="374650" cy="229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07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60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60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Difference Between Connection oriented and Connectionless </a:t>
            </a:r>
            <a:endParaRPr lang="en-US" sz="2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914396"/>
          <a:ext cx="8153400" cy="5484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652"/>
                <a:gridCol w="1874483"/>
                <a:gridCol w="3224309"/>
                <a:gridCol w="2290956"/>
              </a:tblGrid>
              <a:tr h="423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Calibri"/>
                          <a:cs typeface="Times New Roman"/>
                        </a:rPr>
                        <a:t>Sr.no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Calibri"/>
                          <a:cs typeface="Times New Roman"/>
                        </a:rPr>
                        <a:t>Features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Calibri"/>
                          <a:cs typeface="Times New Roman"/>
                        </a:rPr>
                        <a:t>Connection oriented  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Calibri"/>
                          <a:cs typeface="Times New Roman"/>
                        </a:rPr>
                        <a:t>Connection less 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6086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Definition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Performing handshaking 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Not performing handshaking </a:t>
                      </a:r>
                    </a:p>
                  </a:txBody>
                  <a:tcPr marL="68580" marR="68580" marT="0" marB="0"/>
                </a:tc>
              </a:tr>
              <a:tr h="56086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Connection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Prior connection is established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Prior connection is not established </a:t>
                      </a:r>
                    </a:p>
                  </a:txBody>
                  <a:tcPr marL="68580" marR="68580" marT="0" marB="0"/>
                </a:tc>
              </a:tr>
              <a:tr h="423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Speed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It is slow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It is fast</a:t>
                      </a:r>
                    </a:p>
                  </a:txBody>
                  <a:tcPr marL="68580" marR="68580" marT="0" marB="0"/>
                </a:tc>
              </a:tr>
              <a:tr h="56086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Addressing unit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Circuit identifier is addressing unit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Network &amp; host are identifier addressing unit</a:t>
                      </a:r>
                    </a:p>
                  </a:txBody>
                  <a:tcPr marL="68580" marR="68580" marT="0" marB="0"/>
                </a:tc>
              </a:tr>
              <a:tr h="423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Reliability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Reliable :acknowledgement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Not reliable </a:t>
                      </a:r>
                    </a:p>
                  </a:txBody>
                  <a:tcPr marL="68580" marR="68580" marT="0" marB="0"/>
                </a:tc>
              </a:tr>
              <a:tr h="56086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Bandwidth use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As it used by circuit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Used by number and size of frame </a:t>
                      </a:r>
                    </a:p>
                  </a:txBody>
                  <a:tcPr marL="68580" marR="68580" marT="0" marB="0"/>
                </a:tc>
              </a:tr>
              <a:tr h="56086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Impact of crashing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Complete circuit will crash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Only packet at node are lost </a:t>
                      </a:r>
                    </a:p>
                  </a:txBody>
                  <a:tcPr marL="68580" marR="68580" marT="0" marB="0"/>
                </a:tc>
              </a:tr>
              <a:tr h="56086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Traffic processing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Signaling for path setup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Every packet route independently </a:t>
                      </a:r>
                    </a:p>
                  </a:txBody>
                  <a:tcPr marL="68580" marR="68580" marT="0" marB="0"/>
                </a:tc>
              </a:tr>
              <a:tr h="423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examples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Frame relay, ATM ,ISDN,PSTN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IP,ETHERNET </a:t>
                      </a:r>
                    </a:p>
                  </a:txBody>
                  <a:tcPr marL="68580" marR="68580" marT="0" marB="0"/>
                </a:tc>
              </a:tr>
              <a:tr h="423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en-US" sz="14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Protocol Used </a:t>
                      </a:r>
                      <a:endParaRPr lang="en-US" sz="14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TCP </a:t>
                      </a:r>
                      <a:endParaRPr lang="en-US" sz="14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UDP </a:t>
                      </a:r>
                      <a:endParaRPr lang="en-US" sz="1400" dirty="0"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265</Words>
  <Application>Microsoft Office PowerPoint</Application>
  <PresentationFormat>On-screen Show (4:3)</PresentationFormat>
  <Paragraphs>72</Paragraphs>
  <Slides>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Connection Oriented and Connectionless Network </vt:lpstr>
      <vt:lpstr>connection-oriented Network </vt:lpstr>
      <vt:lpstr>Cont…</vt:lpstr>
      <vt:lpstr>Slide 4</vt:lpstr>
      <vt:lpstr>Slide 5</vt:lpstr>
      <vt:lpstr>Connectionless Service </vt:lpstr>
      <vt:lpstr>Slide 7</vt:lpstr>
      <vt:lpstr>Slide 8</vt:lpstr>
      <vt:lpstr>Difference Between Connection oriented and Connectionless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Connection Oriented and Connectionless Network</dc:title>
  <dc:creator>shraddha</dc:creator>
  <cp:lastModifiedBy>shraddha</cp:lastModifiedBy>
  <cp:revision>3</cp:revision>
  <dcterms:created xsi:type="dcterms:W3CDTF">2022-12-06T04:18:55Z</dcterms:created>
  <dcterms:modified xsi:type="dcterms:W3CDTF">2022-12-06T04:42:27Z</dcterms:modified>
</cp:coreProperties>
</file>